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.La" userId="S::u3321181@uni.canberra.edu.au::7dec9c6f-dff1-44d6-b0f5-6f1412138c17" providerId="AD" clId="Web-{EC904F12-EE70-2286-9F33-E893C1483295}"/>
    <pc:docChg chg="modSld">
      <pc:chgData name="Vincent.La" userId="S::u3321181@uni.canberra.edu.au::7dec9c6f-dff1-44d6-b0f5-6f1412138c17" providerId="AD" clId="Web-{EC904F12-EE70-2286-9F33-E893C1483295}" dt="2026-05-07T08:14:55.462" v="3" actId="20577"/>
      <pc:docMkLst>
        <pc:docMk/>
      </pc:docMkLst>
      <pc:sldChg chg="modSp">
        <pc:chgData name="Vincent.La" userId="S::u3321181@uni.canberra.edu.au::7dec9c6f-dff1-44d6-b0f5-6f1412138c17" providerId="AD" clId="Web-{EC904F12-EE70-2286-9F33-E893C1483295}" dt="2026-05-07T08:14:55.462" v="3" actId="20577"/>
        <pc:sldMkLst>
          <pc:docMk/>
          <pc:sldMk cId="0" sldId="260"/>
        </pc:sldMkLst>
        <pc:spChg chg="mod">
          <ac:chgData name="Vincent.La" userId="S::u3321181@uni.canberra.edu.au::7dec9c6f-dff1-44d6-b0f5-6f1412138c17" providerId="AD" clId="Web-{EC904F12-EE70-2286-9F33-E893C1483295}" dt="2026-05-07T08:14:55.462" v="3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Vincent.La" userId="S::u3321181@uni.canberra.edu.au::7dec9c6f-dff1-44d6-b0f5-6f1412138c17" providerId="AD" clId="Web-{EC904F12-EE70-2286-9F33-E893C1483295}" dt="2026-05-07T08:14:51.555" v="1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Vincent.La" userId="S::u3321181@uni.canberra.edu.au::7dec9c6f-dff1-44d6-b0f5-6f1412138c17" providerId="AD" clId="Web-{EC904F12-EE70-2286-9F33-E893C1483295}" dt="2026-05-07T08:14:53.227" v="2" actId="20577"/>
          <ac:spMkLst>
            <pc:docMk/>
            <pc:sldMk cId="0" sldId="260"/>
            <ac:spMk id="29" creationId="{00000000-0000-0000-0000-000000000000}"/>
          </ac:spMkLst>
        </pc:spChg>
      </pc:sldChg>
    </pc:docChg>
  </pc:docChgLst>
  <pc:docChgLst>
    <pc:chgData name="Vincent.La" userId="S::u3321181@uni.canberra.edu.au::7dec9c6f-dff1-44d6-b0f5-6f1412138c17" providerId="AD" clId="Web-{6206ACBE-9B2B-D44D-3B48-DD750F456A3C}"/>
    <pc:docChg chg="modSld">
      <pc:chgData name="Vincent.La" userId="S::u3321181@uni.canberra.edu.au::7dec9c6f-dff1-44d6-b0f5-6f1412138c17" providerId="AD" clId="Web-{6206ACBE-9B2B-D44D-3B48-DD750F456A3C}" dt="2026-04-29T08:14:23.419" v="93"/>
      <pc:docMkLst>
        <pc:docMk/>
      </pc:docMkLst>
      <pc:sldChg chg="delSp modSp">
        <pc:chgData name="Vincent.La" userId="S::u3321181@uni.canberra.edu.au::7dec9c6f-dff1-44d6-b0f5-6f1412138c17" providerId="AD" clId="Web-{6206ACBE-9B2B-D44D-3B48-DD750F456A3C}" dt="2026-04-29T08:12:40.622" v="81"/>
        <pc:sldMkLst>
          <pc:docMk/>
          <pc:sldMk cId="0" sldId="256"/>
        </pc:sldMkLst>
        <pc:spChg chg="mod">
          <ac:chgData name="Vincent.La" userId="S::u3321181@uni.canberra.edu.au::7dec9c6f-dff1-44d6-b0f5-6f1412138c17" providerId="AD" clId="Web-{6206ACBE-9B2B-D44D-3B48-DD750F456A3C}" dt="2026-04-29T08:09:45.448" v="6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0:09.452" v="1" actId="20577"/>
          <ac:spMkLst>
            <pc:docMk/>
            <pc:sldMk cId="0" sldId="256"/>
            <ac:spMk id="23" creationId="{00000000-0000-0000-0000-000000000000}"/>
          </ac:spMkLst>
        </pc:spChg>
      </pc:sldChg>
      <pc:sldChg chg="addSp delSp modSp">
        <pc:chgData name="Vincent.La" userId="S::u3321181@uni.canberra.edu.au::7dec9c6f-dff1-44d6-b0f5-6f1412138c17" providerId="AD" clId="Web-{6206ACBE-9B2B-D44D-3B48-DD750F456A3C}" dt="2026-04-29T08:09:44.619" v="65"/>
        <pc:sldMkLst>
          <pc:docMk/>
          <pc:sldMk cId="0" sldId="258"/>
        </pc:sldMkLst>
        <pc:spChg chg="mod">
          <ac:chgData name="Vincent.La" userId="S::u3321181@uni.canberra.edu.au::7dec9c6f-dff1-44d6-b0f5-6f1412138c17" providerId="AD" clId="Web-{6206ACBE-9B2B-D44D-3B48-DD750F456A3C}" dt="2026-04-29T08:07:45.696" v="33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5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4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1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50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49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48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8:00.868" v="4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1:40.800" v="22" actId="20577"/>
          <ac:spMkLst>
            <pc:docMk/>
            <pc:sldMk cId="0" sldId="258"/>
            <ac:spMk id="37" creationId="{00000000-0000-0000-0000-000000000000}"/>
          </ac:spMkLst>
        </pc:spChg>
      </pc:sldChg>
      <pc:sldChg chg="modSp">
        <pc:chgData name="Vincent.La" userId="S::u3321181@uni.canberra.edu.au::7dec9c6f-dff1-44d6-b0f5-6f1412138c17" providerId="AD" clId="Web-{6206ACBE-9B2B-D44D-3B48-DD750F456A3C}" dt="2026-04-29T08:02:28.473" v="25"/>
        <pc:sldMkLst>
          <pc:docMk/>
          <pc:sldMk cId="0" sldId="259"/>
        </pc:sldMkLst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59"/>
            <ac:spMk id="27" creationId="{00000000-0000-0000-0000-000000000000}"/>
          </ac:spMkLst>
        </pc:spChg>
      </pc:sldChg>
      <pc:sldChg chg="modSp">
        <pc:chgData name="Vincent.La" userId="S::u3321181@uni.canberra.edu.au::7dec9c6f-dff1-44d6-b0f5-6f1412138c17" providerId="AD" clId="Web-{6206ACBE-9B2B-D44D-3B48-DD750F456A3C}" dt="2026-04-29T08:01:16.080" v="18" actId="20577"/>
        <pc:sldMkLst>
          <pc:docMk/>
          <pc:sldMk cId="0" sldId="260"/>
        </pc:sldMkLst>
        <pc:spChg chg="mod">
          <ac:chgData name="Vincent.La" userId="S::u3321181@uni.canberra.edu.au::7dec9c6f-dff1-44d6-b0f5-6f1412138c17" providerId="AD" clId="Web-{6206ACBE-9B2B-D44D-3B48-DD750F456A3C}" dt="2026-04-29T08:00:43.406" v="7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0:51.079" v="9" actId="2057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1:16.080" v="18" actId="20577"/>
          <ac:spMkLst>
            <pc:docMk/>
            <pc:sldMk cId="0" sldId="260"/>
            <ac:spMk id="5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0:40.313" v="6" actId="20577"/>
          <ac:spMkLst>
            <pc:docMk/>
            <pc:sldMk cId="0" sldId="260"/>
            <ac:spMk id="59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1:03.376" v="13" actId="20577"/>
          <ac:spMkLst>
            <pc:docMk/>
            <pc:sldMk cId="0" sldId="260"/>
            <ac:spMk id="63" creationId="{00000000-0000-0000-0000-000000000000}"/>
          </ac:spMkLst>
        </pc:spChg>
      </pc:sldChg>
      <pc:sldChg chg="modSp">
        <pc:chgData name="Vincent.La" userId="S::u3321181@uni.canberra.edu.au::7dec9c6f-dff1-44d6-b0f5-6f1412138c17" providerId="AD" clId="Web-{6206ACBE-9B2B-D44D-3B48-DD750F456A3C}" dt="2026-04-29T08:02:28.473" v="25"/>
        <pc:sldMkLst>
          <pc:docMk/>
          <pc:sldMk cId="0" sldId="261"/>
        </pc:sldMkLst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61"/>
            <ac:spMk id="11" creationId="{00000000-0000-0000-0000-000000000000}"/>
          </ac:spMkLst>
        </pc:spChg>
      </pc:sldChg>
      <pc:sldChg chg="modSp">
        <pc:chgData name="Vincent.La" userId="S::u3321181@uni.canberra.edu.au::7dec9c6f-dff1-44d6-b0f5-6f1412138c17" providerId="AD" clId="Web-{6206ACBE-9B2B-D44D-3B48-DD750F456A3C}" dt="2026-04-29T08:14:23.419" v="93"/>
        <pc:sldMkLst>
          <pc:docMk/>
          <pc:sldMk cId="0" sldId="262"/>
        </pc:sldMkLst>
        <pc:spChg chg="mod">
          <ac:chgData name="Vincent.La" userId="S::u3321181@uni.canberra.edu.au::7dec9c6f-dff1-44d6-b0f5-6f1412138c17" providerId="AD" clId="Web-{6206ACBE-9B2B-D44D-3B48-DD750F456A3C}" dt="2026-04-29T08:14:23.263" v="87"/>
          <ac:spMkLst>
            <pc:docMk/>
            <pc:sldMk cId="0" sldId="262"/>
            <ac:spMk id="9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294" v="8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310" v="89"/>
          <ac:spMkLst>
            <pc:docMk/>
            <pc:sldMk cId="0" sldId="262"/>
            <ac:spMk id="1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341" v="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372" v="91"/>
          <ac:spMkLst>
            <pc:docMk/>
            <pc:sldMk cId="0" sldId="262"/>
            <ac:spMk id="21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404" v="92"/>
          <ac:spMkLst>
            <pc:docMk/>
            <pc:sldMk cId="0" sldId="262"/>
            <ac:spMk id="2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02.232" v="82"/>
          <ac:spMkLst>
            <pc:docMk/>
            <pc:sldMk cId="0" sldId="262"/>
            <ac:spMk id="2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02.263" v="83"/>
          <ac:spMkLst>
            <pc:docMk/>
            <pc:sldMk cId="0" sldId="262"/>
            <ac:spMk id="27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02.294" v="84"/>
          <ac:spMkLst>
            <pc:docMk/>
            <pc:sldMk cId="0" sldId="262"/>
            <ac:spMk id="33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23.419" v="93"/>
          <ac:spMkLst>
            <pc:docMk/>
            <pc:sldMk cId="0" sldId="262"/>
            <ac:spMk id="3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02.325" v="85"/>
          <ac:spMkLst>
            <pc:docMk/>
            <pc:sldMk cId="0" sldId="262"/>
            <ac:spMk id="37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14:02.357" v="86"/>
          <ac:spMkLst>
            <pc:docMk/>
            <pc:sldMk cId="0" sldId="262"/>
            <ac:spMk id="39" creationId="{00000000-0000-0000-0000-000000000000}"/>
          </ac:spMkLst>
        </pc:spChg>
      </pc:sldChg>
      <pc:sldChg chg="modSp">
        <pc:chgData name="Vincent.La" userId="S::u3321181@uni.canberra.edu.au::7dec9c6f-dff1-44d6-b0f5-6f1412138c17" providerId="AD" clId="Web-{6206ACBE-9B2B-D44D-3B48-DD750F456A3C}" dt="2026-04-29T08:02:28.473" v="25"/>
        <pc:sldMkLst>
          <pc:docMk/>
          <pc:sldMk cId="0" sldId="263"/>
        </pc:sldMkLst>
        <pc:spChg chg="mod">
          <ac:chgData name="Vincent.La" userId="S::u3321181@uni.canberra.edu.au::7dec9c6f-dff1-44d6-b0f5-6f1412138c17" providerId="AD" clId="Web-{6206ACBE-9B2B-D44D-3B48-DD750F456A3C}" dt="2026-04-29T08:02:14.942" v="24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Vincent.La" userId="S::u3321181@uni.canberra.edu.au::7dec9c6f-dff1-44d6-b0f5-6f1412138c17" providerId="AD" clId="Web-{6206ACBE-9B2B-D44D-3B48-DD750F456A3C}" dt="2026-04-29T08:02:28.473" v="25"/>
          <ac:spMkLst>
            <pc:docMk/>
            <pc:sldMk cId="0" sldId="263"/>
            <ac:spMk id="26" creationId="{00000000-0000-0000-0000-000000000000}"/>
          </ac:spMkLst>
        </pc:spChg>
      </pc:sldChg>
    </pc:docChg>
  </pc:docChgLst>
  <pc:docChgLst>
    <pc:chgData name="Vincent.La" userId="S::u3321181@uni.canberra.edu.au::7dec9c6f-dff1-44d6-b0f5-6f1412138c17" providerId="AD" clId="Web-{A80F3975-611D-6DF0-27C9-717FC868F833}"/>
    <pc:docChg chg="modSld">
      <pc:chgData name="Vincent.La" userId="S::u3321181@uni.canberra.edu.au::7dec9c6f-dff1-44d6-b0f5-6f1412138c17" providerId="AD" clId="Web-{A80F3975-611D-6DF0-27C9-717FC868F833}" dt="2026-05-06T11:57:26.661" v="109"/>
      <pc:docMkLst>
        <pc:docMk/>
      </pc:docMkLst>
      <pc:sldChg chg="addSp delSp modSp modNotes">
        <pc:chgData name="Vincent.La" userId="S::u3321181@uni.canberra.edu.au::7dec9c6f-dff1-44d6-b0f5-6f1412138c17" providerId="AD" clId="Web-{A80F3975-611D-6DF0-27C9-717FC868F833}" dt="2026-05-06T11:57:04.348" v="107"/>
        <pc:sldMkLst>
          <pc:docMk/>
          <pc:sldMk cId="0" sldId="256"/>
        </pc:sldMkLst>
        <pc:spChg chg="mod">
          <ac:chgData name="Vincent.La" userId="S::u3321181@uni.canberra.edu.au::7dec9c6f-dff1-44d6-b0f5-6f1412138c17" providerId="AD" clId="Web-{A80F3975-611D-6DF0-27C9-717FC868F833}" dt="2026-05-06T11:04:22.945" v="20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Vincent.La" userId="S::u3321181@uni.canberra.edu.au::7dec9c6f-dff1-44d6-b0f5-6f1412138c17" providerId="AD" clId="Web-{A80F3975-611D-6DF0-27C9-717FC868F833}" dt="2026-05-06T11:14:19.247" v="79" actId="1076"/>
          <ac:spMkLst>
            <pc:docMk/>
            <pc:sldMk cId="0" sldId="256"/>
            <ac:spMk id="10" creationId="{7ECF14C2-9CC6-F9FB-CF2A-3D64DC633595}"/>
          </ac:spMkLst>
        </pc:spChg>
        <pc:spChg chg="mod">
          <ac:chgData name="Vincent.La" userId="S::u3321181@uni.canberra.edu.au::7dec9c6f-dff1-44d6-b0f5-6f1412138c17" providerId="AD" clId="Web-{A80F3975-611D-6DF0-27C9-717FC868F833}" dt="2026-05-06T11:46:36.336" v="95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Vincent.La" userId="S::u3321181@uni.canberra.edu.au::7dec9c6f-dff1-44d6-b0f5-6f1412138c17" providerId="AD" clId="Web-{A80F3975-611D-6DF0-27C9-717FC868F833}" dt="2026-05-06T11:46:35.430" v="94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Vincent.La" userId="S::u3321181@uni.canberra.edu.au::7dec9c6f-dff1-44d6-b0f5-6f1412138c17" providerId="AD" clId="Web-{A80F3975-611D-6DF0-27C9-717FC868F833}" dt="2026-05-06T11:46:34.789" v="93" actId="20577"/>
          <ac:spMkLst>
            <pc:docMk/>
            <pc:sldMk cId="0" sldId="256"/>
            <ac:spMk id="27" creationId="{00000000-0000-0000-0000-000000000000}"/>
          </ac:spMkLst>
        </pc:spChg>
        <pc:picChg chg="add mod">
          <ac:chgData name="Vincent.La" userId="S::u3321181@uni.canberra.edu.au::7dec9c6f-dff1-44d6-b0f5-6f1412138c17" providerId="AD" clId="Web-{A80F3975-611D-6DF0-27C9-717FC868F833}" dt="2026-05-06T11:12:52.979" v="67" actId="1076"/>
          <ac:picMkLst>
            <pc:docMk/>
            <pc:sldMk cId="0" sldId="256"/>
            <ac:picMk id="9" creationId="{E042D521-F182-B669-F965-9ECB099BE49E}"/>
          </ac:picMkLst>
        </pc:picChg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57"/>
        </pc:sldMkLst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58"/>
        </pc:sldMkLst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59"/>
        </pc:sldMkLst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60"/>
        </pc:sldMkLst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61"/>
        </pc:sldMkLst>
      </pc:sldChg>
      <pc:sldChg chg="delSp 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62"/>
        </pc:sldMkLst>
      </pc:sldChg>
      <pc:sldChg chg="modNotes">
        <pc:chgData name="Vincent.La" userId="S::u3321181@uni.canberra.edu.au::7dec9c6f-dff1-44d6-b0f5-6f1412138c17" providerId="AD" clId="Web-{A80F3975-611D-6DF0-27C9-717FC868F833}" dt="2026-05-06T11:57:26.661" v="109"/>
        <pc:sldMkLst>
          <pc:docMk/>
          <pc:sldMk cId="0" sldId="263"/>
        </pc:sldMkLst>
      </pc:sldChg>
    </pc:docChg>
  </pc:docChgLst>
  <pc:docChgLst>
    <pc:chgData name="Vincent.La" userId="S::u3321181@uni.canberra.edu.au::7dec9c6f-dff1-44d6-b0f5-6f1412138c17" providerId="AD" clId="Web-{4B03320D-7A66-B595-BB6B-BCB6D65340FA}"/>
    <pc:docChg chg="modSld">
      <pc:chgData name="Vincent.La" userId="S::u3321181@uni.canberra.edu.au::7dec9c6f-dff1-44d6-b0f5-6f1412138c17" providerId="AD" clId="Web-{4B03320D-7A66-B595-BB6B-BCB6D65340FA}" dt="2026-05-06T12:13:47.168" v="125"/>
      <pc:docMkLst>
        <pc:docMk/>
      </pc:docMkLst>
      <pc:sldChg chg="addSp delSp modSp">
        <pc:chgData name="Vincent.La" userId="S::u3321181@uni.canberra.edu.au::7dec9c6f-dff1-44d6-b0f5-6f1412138c17" providerId="AD" clId="Web-{4B03320D-7A66-B595-BB6B-BCB6D65340FA}" dt="2026-05-06T12:13:47.168" v="125"/>
        <pc:sldMkLst>
          <pc:docMk/>
          <pc:sldMk cId="0" sldId="258"/>
        </pc:sldMkLst>
        <pc:spChg chg="mod">
          <ac:chgData name="Vincent.La" userId="S::u3321181@uni.canberra.edu.au::7dec9c6f-dff1-44d6-b0f5-6f1412138c17" providerId="AD" clId="Web-{4B03320D-7A66-B595-BB6B-BCB6D65340FA}" dt="2026-05-06T12:09:46.130" v="65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6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6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6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61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60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3:33.672" v="1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3:33.672" v="15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59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5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09:46.130" v="5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1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12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11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10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09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08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Vincent.La" userId="S::u3321181@uni.canberra.edu.au::7dec9c6f-dff1-44d6-b0f5-6f1412138c17" providerId="AD" clId="Web-{4B03320D-7A66-B595-BB6B-BCB6D65340FA}" dt="2026-05-06T12:12:54.601" v="107" actId="1076"/>
          <ac:spMkLst>
            <pc:docMk/>
            <pc:sldMk cId="0" sldId="258"/>
            <ac:spMk id="33" creationId="{00000000-0000-0000-0000-000000000000}"/>
          </ac:spMkLst>
        </pc:spChg>
        <pc:grpChg chg="add mod">
          <ac:chgData name="Vincent.La" userId="S::u3321181@uni.canberra.edu.au::7dec9c6f-dff1-44d6-b0f5-6f1412138c17" providerId="AD" clId="Web-{4B03320D-7A66-B595-BB6B-BCB6D65340FA}" dt="2026-05-06T12:13:01.336" v="115" actId="1076"/>
          <ac:grpSpMkLst>
            <pc:docMk/>
            <pc:sldMk cId="0" sldId="258"/>
            <ac:grpSpMk id="43" creationId="{91B03269-3DD3-F2AF-3A9C-48B6D1E61281}"/>
          </ac:grpSpMkLst>
        </pc:grpChg>
        <pc:grpChg chg="add mod">
          <ac:chgData name="Vincent.La" userId="S::u3321181@uni.canberra.edu.au::7dec9c6f-dff1-44d6-b0f5-6f1412138c17" providerId="AD" clId="Web-{4B03320D-7A66-B595-BB6B-BCB6D65340FA}" dt="2026-05-06T12:13:11.962" v="117" actId="1076"/>
          <ac:grpSpMkLst>
            <pc:docMk/>
            <pc:sldMk cId="0" sldId="258"/>
            <ac:grpSpMk id="44" creationId="{38F674F7-7754-F359-E9E9-088A54527F7B}"/>
          </ac:grpSpMkLst>
        </pc:grpChg>
        <pc:grpChg chg="add mod">
          <ac:chgData name="Vincent.La" userId="S::u3321181@uni.canberra.edu.au::7dec9c6f-dff1-44d6-b0f5-6f1412138c17" providerId="AD" clId="Web-{4B03320D-7A66-B595-BB6B-BCB6D65340FA}" dt="2026-05-06T12:13:24.166" v="119" actId="1076"/>
          <ac:grpSpMkLst>
            <pc:docMk/>
            <pc:sldMk cId="0" sldId="258"/>
            <ac:grpSpMk id="45" creationId="{F646A36D-1AF9-2B07-3985-C7B388B04FCA}"/>
          </ac:grpSpMkLst>
        </pc:grpChg>
        <pc:grpChg chg="add mod">
          <ac:chgData name="Vincent.La" userId="S::u3321181@uni.canberra.edu.au::7dec9c6f-dff1-44d6-b0f5-6f1412138c17" providerId="AD" clId="Web-{4B03320D-7A66-B595-BB6B-BCB6D65340FA}" dt="2026-05-06T12:13:33.135" v="121" actId="1076"/>
          <ac:grpSpMkLst>
            <pc:docMk/>
            <pc:sldMk cId="0" sldId="258"/>
            <ac:grpSpMk id="46" creationId="{160662E3-B75F-B3BF-F2A5-B5C85A03E0A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587D8-32AC-44D0-A14A-2BBD2BCB782A}" type="datetimeFigureOut">
              <a:t>5/12/2026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06369-7399-46A8-8AF0-147C66D0994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01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Title</a:t>
            </a:r>
            <a:r>
              <a:rPr lang="en-US"/>
              <a:t> Welcome everyone. This is the Macroinvertebrate Image Analysis System, built for Software Technology 1 Assignment 3. The system solves a real environmental monitoring problem using Python, machine learning, and two deployment interfaces. We'll walk through the problem, our architecture, the packages we used, a live demo, our OO design decisions, and how the work was divided across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Project Introduction</a:t>
            </a:r>
            <a:r>
              <a:rPr lang="en-US"/>
              <a:t> Freshwater macroinvertebrates are biological indicators - their presence or absence tells us about water quality. Manual expert classification is slow and inconsistent, so we automated it. Our solution is a three-stage Python pipeline: Stage 1 does exploratory data analysis, Stage 2 trains a Random Forest classifier, and Stage 3 deploys it via a console app and a Tkinter GUI. The dataset is the Kaggle Stream Macroinvertebrates dataset, indexed using DatasetIndexer which scans the folder structure and builds a pandas DataFrame. The class label comes from the parent folder name, matching the Kaggle dataset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System Design</a:t>
            </a:r>
            <a:r>
              <a:rPr lang="en-US"/>
              <a:t> The system is split into three layers. The interface layer has two entry points - ConsoleApp and MacroApp - both calling WorkflowService and nothing else. WorkflowService is the coordination layer: it constructs all services at startup, caches the dataset DataFrame so we only scan disk once per session, and exposes clean methods like show_summary, generate_eda, train_model, and predict_image. The service layer contains DatasetIndexer, EDAService, ImagePreprocessor, and ClassifierService, each with exactly one responsibility. The key design principle is that scikit-learn is only imported inside ClassifierService. Neither the GUI nor the console ever touch it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Python Packages</a:t>
            </a:r>
            <a:r>
              <a:rPr lang="en-US"/>
              <a:t> We used eight packages, each with a clear role. pandas holds the image index as a DataFrame that both EDA and training share. numpy builds the feature matrix and label arrays. opencv-python reads images, converts to grayscale, and resizes to 128x128. scikit-learn provides train/test split, RandomForestClassifier, and evaluation metrics. matplotlib and seaborn generate all five EDA charts. tkinter is the Stage 3 GUI - we used threading so long operations like training don't freeze the UI. joblib persists the trained model between sessions. Pillow loads and thumbnails images for the GUI preview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Live Demo</a:t>
            </a:r>
            <a:r>
              <a:rPr lang="en-US" dirty="0"/>
              <a:t> We'll now do a live demo of both interfaces. Console: launch it, select Option 1 for dataset summary, Option 2 to run EDA and view saved charts, Option 3 to train the classifier and see accuracy and confusion matrix, Option 4 to predict a single image. GUI: launch the </a:t>
            </a:r>
            <a:r>
              <a:rPr lang="en-US" dirty="0" err="1"/>
              <a:t>Tkinter</a:t>
            </a:r>
            <a:r>
              <a:rPr lang="en-US" dirty="0"/>
              <a:t> window, click Dataset Summary, Generate EDA, Train Classifier, then Choose Image to load a preview, and Predict Class to get the result with confidence score. The progress bar runs during long operations. Both interfaces call identical </a:t>
            </a:r>
            <a:r>
              <a:rPr lang="en-US" dirty="0" err="1"/>
              <a:t>WorkflowService</a:t>
            </a:r>
            <a:r>
              <a:rPr lang="en-US" dirty="0"/>
              <a:t> methods - no logic is duplicated.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OO Design</a:t>
            </a:r>
            <a:r>
              <a:rPr lang="en-US" dirty="0"/>
              <a:t> We applied four key OO principles. Single Responsibility: every class has one job - </a:t>
            </a:r>
            <a:r>
              <a:rPr lang="en-US" dirty="0" err="1"/>
              <a:t>EDAService</a:t>
            </a:r>
            <a:r>
              <a:rPr lang="en-US" dirty="0"/>
              <a:t> only makes charts, </a:t>
            </a:r>
            <a:r>
              <a:rPr lang="en-US" dirty="0" err="1"/>
              <a:t>ClassifierService</a:t>
            </a:r>
            <a:r>
              <a:rPr lang="en-US" dirty="0"/>
              <a:t> only handles the model. Dependency Injection: </a:t>
            </a:r>
            <a:r>
              <a:rPr lang="en-US" dirty="0" err="1"/>
              <a:t>WorkflowService</a:t>
            </a:r>
            <a:r>
              <a:rPr lang="en-US" dirty="0"/>
              <a:t> receives an </a:t>
            </a:r>
            <a:r>
              <a:rPr lang="en-US" dirty="0" err="1"/>
              <a:t>ImagePreprocessor</a:t>
            </a:r>
            <a:r>
              <a:rPr lang="en-US" dirty="0"/>
              <a:t> and passes it to </a:t>
            </a:r>
            <a:r>
              <a:rPr lang="en-US" dirty="0" err="1"/>
              <a:t>ClassifierService</a:t>
            </a:r>
            <a:r>
              <a:rPr lang="en-US" dirty="0"/>
              <a:t> at construction time, making it easy to swap in a mock preprocessor for testing without changing any other class. Encapsulation: </a:t>
            </a:r>
            <a:r>
              <a:rPr lang="en-US" dirty="0" err="1"/>
              <a:t>sklearn</a:t>
            </a:r>
            <a:r>
              <a:rPr lang="en-US" dirty="0"/>
              <a:t> is only imported inside </a:t>
            </a:r>
            <a:r>
              <a:rPr lang="en-US" dirty="0" err="1"/>
              <a:t>ClassifierService</a:t>
            </a:r>
            <a:r>
              <a:rPr lang="en-US" dirty="0"/>
              <a:t> - if we swap to </a:t>
            </a:r>
            <a:r>
              <a:rPr lang="en-US" dirty="0" err="1"/>
              <a:t>Keras</a:t>
            </a:r>
            <a:r>
              <a:rPr lang="en-US" dirty="0"/>
              <a:t>, only one file changes. </a:t>
            </a:r>
            <a:r>
              <a:rPr lang="en-US" dirty="0" err="1"/>
              <a:t>ImageRecord</a:t>
            </a:r>
            <a:r>
              <a:rPr lang="en-US" dirty="0"/>
              <a:t> is a typed </a:t>
            </a:r>
            <a:r>
              <a:rPr lang="en-US" dirty="0" err="1"/>
              <a:t>dataclass</a:t>
            </a:r>
            <a:r>
              <a:rPr lang="en-US" dirty="0"/>
              <a:t> replacing a raw </a:t>
            </a:r>
            <a:r>
              <a:rPr lang="en-US" dirty="0" err="1"/>
              <a:t>dict</a:t>
            </a:r>
            <a:r>
              <a:rPr lang="en-US" dirty="0"/>
              <a:t> for image metadata, giving us </a:t>
            </a:r>
            <a:r>
              <a:rPr lang="en-US" b="1" dirty="0" err="1"/>
              <a:t>repr</a:t>
            </a:r>
            <a:r>
              <a:rPr lang="en-US" dirty="0"/>
              <a:t> and type safety with no boilerplate.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Team Contributions</a:t>
            </a:r>
            <a:r>
              <a:rPr lang="en-US" dirty="0"/>
              <a:t> The three members each owned a distinct layer. Member 1 handled data and analysis: </a:t>
            </a:r>
            <a:r>
              <a:rPr lang="en-US" dirty="0" err="1"/>
              <a:t>DatasetIndexer</a:t>
            </a:r>
            <a:r>
              <a:rPr lang="en-US" dirty="0"/>
              <a:t>, the </a:t>
            </a:r>
            <a:r>
              <a:rPr lang="en-US" dirty="0" err="1"/>
              <a:t>ImageRecord</a:t>
            </a:r>
            <a:r>
              <a:rPr lang="en-US" dirty="0"/>
              <a:t> </a:t>
            </a:r>
            <a:r>
              <a:rPr lang="en-US" dirty="0" err="1"/>
              <a:t>dataclass</a:t>
            </a:r>
            <a:r>
              <a:rPr lang="en-US" dirty="0"/>
              <a:t>, </a:t>
            </a:r>
            <a:r>
              <a:rPr lang="en-US" dirty="0" err="1"/>
              <a:t>EDAService</a:t>
            </a:r>
            <a:r>
              <a:rPr lang="en-US" dirty="0"/>
              <a:t> with five charts, and config.py for </a:t>
            </a:r>
            <a:r>
              <a:rPr lang="en-US" dirty="0" err="1"/>
              <a:t>centralised</a:t>
            </a:r>
            <a:r>
              <a:rPr lang="en-US" dirty="0"/>
              <a:t> paths. Member 2 owned the ML pipeline: </a:t>
            </a:r>
            <a:r>
              <a:rPr lang="en-US" dirty="0" err="1"/>
              <a:t>ImagePreprocessor</a:t>
            </a:r>
            <a:r>
              <a:rPr lang="en-US" dirty="0"/>
              <a:t>, </a:t>
            </a:r>
            <a:r>
              <a:rPr lang="en-US" dirty="0" err="1"/>
              <a:t>ClassifierService</a:t>
            </a:r>
            <a:r>
              <a:rPr lang="en-US" dirty="0"/>
              <a:t>, </a:t>
            </a:r>
            <a:r>
              <a:rPr lang="en-US" dirty="0" err="1"/>
              <a:t>WorkflowService</a:t>
            </a:r>
            <a:r>
              <a:rPr lang="en-US" dirty="0"/>
              <a:t> as coordinator, and model persistence with </a:t>
            </a:r>
            <a:r>
              <a:rPr lang="en-US" dirty="0" err="1"/>
              <a:t>joblib</a:t>
            </a:r>
            <a:r>
              <a:rPr lang="en-US" dirty="0"/>
              <a:t>. Member 3 handled deployment and QA: </a:t>
            </a:r>
            <a:r>
              <a:rPr lang="en-US" dirty="0" err="1"/>
              <a:t>ConsoleApp</a:t>
            </a:r>
            <a:r>
              <a:rPr lang="en-US" dirty="0"/>
              <a:t> with six menu options, </a:t>
            </a:r>
            <a:r>
              <a:rPr lang="en-US" dirty="0" err="1"/>
              <a:t>MacroApp</a:t>
            </a:r>
            <a:r>
              <a:rPr lang="en-US" dirty="0"/>
              <a:t> </a:t>
            </a:r>
            <a:r>
              <a:rPr lang="en-US" dirty="0" err="1"/>
              <a:t>Tkinter</a:t>
            </a:r>
            <a:r>
              <a:rPr lang="en-US" dirty="0"/>
              <a:t> GUI, MANUAL_TESTING.md covering ten test scenarios, and the README. The layered architecture made this split clean - each member could work independently without blocking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r>
              <a:rPr lang="en-US" dirty="0"/>
              <a:t> To </a:t>
            </a:r>
            <a:r>
              <a:rPr lang="en-US" dirty="0" err="1"/>
              <a:t>summarise</a:t>
            </a:r>
            <a:r>
              <a:rPr lang="en-US" dirty="0"/>
              <a:t>: a modular three-stage Python pipeline, five EDA charts, a Random Forest classifier with balanced class weights to handle imbalanced data, both console and GUI deployment, and ten manual test scenarios all passing. Limitations include grayscale-only features losing </a:t>
            </a:r>
            <a:r>
              <a:rPr lang="en-US" dirty="0" err="1"/>
              <a:t>colour</a:t>
            </a:r>
            <a:r>
              <a:rPr lang="en-US" dirty="0"/>
              <a:t> information, no cross-validation or hyperparameter tuning, and no automated tests. Future work would include a CNN-based classifier, </a:t>
            </a:r>
            <a:r>
              <a:rPr lang="en-US" dirty="0" err="1"/>
              <a:t>colour</a:t>
            </a:r>
            <a:r>
              <a:rPr lang="en-US" dirty="0"/>
              <a:t> feature extraction, a </a:t>
            </a:r>
            <a:r>
              <a:rPr lang="en-US" dirty="0" err="1"/>
              <a:t>pytest</a:t>
            </a:r>
            <a:r>
              <a:rPr lang="en-US" dirty="0"/>
              <a:t> suite, and web deployment using Flask or </a:t>
            </a:r>
            <a:r>
              <a:rPr lang="en-US" dirty="0" err="1"/>
              <a:t>Streamlit</a:t>
            </a:r>
            <a:r>
              <a:rPr lang="en-US" dirty="0"/>
              <a:t>. Thank you - happy to take questions.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/>
              <a:t>Potential tutor questions and answers:</a:t>
            </a:r>
            <a:endParaRPr lang="en-US" dirty="0"/>
          </a:p>
          <a:p>
            <a:r>
              <a:rPr lang="en-US" b="1" dirty="0"/>
              <a:t>Why Random Forest and not a neural network?</a:t>
            </a:r>
            <a:r>
              <a:rPr lang="en-US" dirty="0"/>
              <a:t> Random Forest was appropriate for a baseline classifier because it trains quickly, handles multi-class problems natively, requires no GPU, and is interpretable. It also works reasonably well on flattened pixel features without needing convolutional layers. A CNN is the obvious next step and we acknowledged it as a future improvement.</a:t>
            </a:r>
          </a:p>
          <a:p>
            <a:r>
              <a:rPr lang="en-US" b="1" dirty="0"/>
              <a:t>Why 128x128 grayscale? What do you lose?</a:t>
            </a:r>
            <a:r>
              <a:rPr lang="en-US" dirty="0"/>
              <a:t> 128x128 is a balance between feature vector size and image detail. At that size each image produces 16,384 features, which is already large for a Random Forest. Going larger increases training time significantly. Grayscale reduces that to a single channel, keeping memory manageable. The trade-off is losing </a:t>
            </a:r>
            <a:r>
              <a:rPr lang="en-US" dirty="0" err="1"/>
              <a:t>colour</a:t>
            </a:r>
            <a:r>
              <a:rPr lang="en-US" dirty="0"/>
              <a:t> information, which matters for macroinvertebrates because some species are distinguished partly by </a:t>
            </a:r>
            <a:r>
              <a:rPr lang="en-US" dirty="0" err="1"/>
              <a:t>colouration</a:t>
            </a:r>
            <a:r>
              <a:rPr lang="en-US" dirty="0"/>
              <a:t>.</a:t>
            </a:r>
          </a:p>
          <a:p>
            <a:r>
              <a:rPr lang="en-US" b="1" dirty="0"/>
              <a:t>Why balanced class weights?</a:t>
            </a:r>
            <a:r>
              <a:rPr lang="en-US" dirty="0"/>
              <a:t> The Kaggle dataset has unequal numbers of images per class. Without balancing, the classifier would be biased toward majority classes and underperform on rare ones. Setting </a:t>
            </a:r>
            <a:r>
              <a:rPr lang="en-US" dirty="0" err="1"/>
              <a:t>class_weight</a:t>
            </a:r>
            <a:r>
              <a:rPr lang="en-US" dirty="0"/>
              <a:t>="balanced" in scikit-learn makes the model </a:t>
            </a:r>
            <a:r>
              <a:rPr lang="en-US" dirty="0" err="1"/>
              <a:t>penalise</a:t>
            </a:r>
            <a:r>
              <a:rPr lang="en-US" dirty="0"/>
              <a:t> misclassifications on minority classes more heavily, which produces fairer per-class accuracy.</a:t>
            </a:r>
          </a:p>
          <a:p>
            <a:r>
              <a:rPr lang="en-US" b="1"/>
              <a:t>Why no cross-validation?</a:t>
            </a:r>
            <a:r>
              <a:rPr lang="en-US"/>
              <a:t> We used a single 80/20 stratified split for time and simplicity. Cross-validation would give a more reliable accuracy estimate by averaging over multiple splits, but it multiplies training time by the number of folds. We flagged this as a known limitation.</a:t>
            </a:r>
            <a:endParaRPr lang="en-US" dirty="0"/>
          </a:p>
          <a:p>
            <a:r>
              <a:rPr lang="en-US" b="1"/>
              <a:t>What does stratify=y do in the train/test split?</a:t>
            </a:r>
            <a:r>
              <a:rPr lang="en-US"/>
              <a:t> It ensures each class appears in the same proportion in both the training and test sets. Without it, a random split could place all images of a rare class entirely in one set, making evaluation unreliable.</a:t>
            </a:r>
            <a:endParaRPr lang="en-US" dirty="0"/>
          </a:p>
          <a:p>
            <a:r>
              <a:rPr lang="en-US" b="1" dirty="0"/>
              <a:t>Why </a:t>
            </a:r>
            <a:r>
              <a:rPr lang="en-US" b="1" dirty="0" err="1"/>
              <a:t>joblib</a:t>
            </a:r>
            <a:r>
              <a:rPr lang="en-US" b="1" dirty="0"/>
              <a:t> for model persistence instead of pickle?</a:t>
            </a:r>
            <a:r>
              <a:rPr lang="en-US" dirty="0"/>
              <a:t> </a:t>
            </a:r>
            <a:r>
              <a:rPr lang="en-US" dirty="0" err="1"/>
              <a:t>joblib</a:t>
            </a:r>
            <a:r>
              <a:rPr lang="en-US" dirty="0"/>
              <a:t> is the scikit-learn recommended </a:t>
            </a:r>
            <a:r>
              <a:rPr lang="en-US" dirty="0" err="1"/>
              <a:t>serialisation</a:t>
            </a:r>
            <a:r>
              <a:rPr lang="en-US" dirty="0"/>
              <a:t> method for </a:t>
            </a:r>
            <a:r>
              <a:rPr lang="en-US" dirty="0" err="1"/>
              <a:t>numpy</a:t>
            </a:r>
            <a:r>
              <a:rPr lang="en-US" dirty="0"/>
              <a:t> arrays and estimators. It is more efficient than pickle for large arrays because it uses memory-mapped files internally, which speeds up both saving and loading.</a:t>
            </a:r>
          </a:p>
          <a:p>
            <a:r>
              <a:rPr lang="en-US" b="1" dirty="0"/>
              <a:t>How does the GUI stay responsive during training?</a:t>
            </a:r>
            <a:r>
              <a:rPr lang="en-US" dirty="0"/>
              <a:t> Each long operation - EDA, training, prediction - is run in a daemon thread via Python's threading module. The </a:t>
            </a:r>
            <a:r>
              <a:rPr lang="en-US" dirty="0" err="1"/>
              <a:t>Tkinter</a:t>
            </a:r>
            <a:r>
              <a:rPr lang="en-US" dirty="0"/>
              <a:t> main loop continues running on the main thread, keeping the progress bar and UI interactive. Results are written back to the UI using widget update methods which are thread-safe in </a:t>
            </a:r>
            <a:r>
              <a:rPr lang="en-US" dirty="0" err="1"/>
              <a:t>Tkinter</a:t>
            </a:r>
            <a:r>
              <a:rPr lang="en-US" dirty="0"/>
              <a:t> when called carefully.</a:t>
            </a:r>
          </a:p>
          <a:p>
            <a:r>
              <a:rPr lang="en-US" b="1" dirty="0"/>
              <a:t>Why did you use a </a:t>
            </a:r>
            <a:r>
              <a:rPr lang="en-US" b="1" dirty="0" err="1"/>
              <a:t>dataclass</a:t>
            </a:r>
            <a:r>
              <a:rPr lang="en-US" b="1" dirty="0"/>
              <a:t> for </a:t>
            </a:r>
            <a:r>
              <a:rPr lang="en-US" b="1" dirty="0" err="1"/>
              <a:t>ImageRecord</a:t>
            </a:r>
            <a:r>
              <a:rPr lang="en-US" b="1" dirty="0"/>
              <a:t> instead of a plain </a:t>
            </a:r>
            <a:r>
              <a:rPr lang="en-US" b="1" dirty="0" err="1"/>
              <a:t>dict</a:t>
            </a:r>
            <a:r>
              <a:rPr lang="en-US" b="1" dirty="0"/>
              <a:t>?</a:t>
            </a:r>
            <a:r>
              <a:rPr lang="en-US" dirty="0"/>
              <a:t> A </a:t>
            </a:r>
            <a:r>
              <a:rPr lang="en-US" dirty="0" err="1"/>
              <a:t>dataclass</a:t>
            </a:r>
            <a:r>
              <a:rPr lang="en-US" dirty="0"/>
              <a:t> gives named, typed fields with automatic </a:t>
            </a:r>
            <a:r>
              <a:rPr lang="en-US" b="1" dirty="0" err="1"/>
              <a:t>repr</a:t>
            </a:r>
            <a:r>
              <a:rPr lang="en-US" dirty="0"/>
              <a:t> and no manual </a:t>
            </a:r>
            <a:r>
              <a:rPr lang="en-US" b="1" dirty="0" err="1"/>
              <a:t>init</a:t>
            </a:r>
            <a:r>
              <a:rPr lang="en-US" dirty="0"/>
              <a:t> boilerplate. It makes the code self-documenting - anyone reading it knows exactly what fields an image record contains and what types they are. A raw </a:t>
            </a:r>
            <a:r>
              <a:rPr lang="en-US" dirty="0" err="1"/>
              <a:t>dict</a:t>
            </a:r>
            <a:r>
              <a:rPr lang="en-US" dirty="0"/>
              <a:t> would accept any key silently, making bugs harder to catch.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0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Macroinvertebrate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7200" y="1371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 System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3840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23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1 - Assignment 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474720" cy="365760"/>
          </a:xfrm>
          <a:prstGeom prst="rect">
            <a:avLst/>
          </a:prstGeom>
          <a:solidFill>
            <a:srgbClr val="1B3A4B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1200">
                <a:solidFill>
                  <a:schemeClr val="bg1"/>
                </a:solidFill>
                <a:latin typeface="Aptos"/>
              </a:rPr>
              <a:t>u3231515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447288"/>
            <a:ext cx="3474720" cy="365760"/>
          </a:xfrm>
          <a:prstGeom prst="rect">
            <a:avLst/>
          </a:prstGeom>
          <a:solidFill>
            <a:srgbClr val="1B3A4B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200">
                <a:solidFill>
                  <a:srgbClr val="FFFFFF"/>
                </a:solidFill>
                <a:latin typeface="Aptos"/>
                <a:ea typeface="Calibri"/>
                <a:cs typeface="Calibri"/>
              </a:rPr>
              <a:t>u3321181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3474720" cy="365760"/>
          </a:xfrm>
          <a:prstGeom prst="rect">
            <a:avLst/>
          </a:prstGeom>
          <a:solidFill>
            <a:srgbClr val="1B3A4B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22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12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u3275790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Presentation</a:t>
            </a:r>
            <a:endParaRPr lang="en-US" sz="1100" dirty="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42D521-F182-B669-F965-9ECB099B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43" y="805961"/>
            <a:ext cx="2515806" cy="3482731"/>
          </a:xfrm>
          <a:prstGeom prst="rect">
            <a:avLst/>
          </a:prstGeom>
        </p:spPr>
      </p:pic>
      <p:sp>
        <p:nvSpPr>
          <p:cNvPr id="10" name="Text 26">
            <a:extLst>
              <a:ext uri="{FF2B5EF4-FFF2-40B4-BE49-F238E27FC236}">
                <a16:creationId xmlns:a16="http://schemas.microsoft.com/office/drawing/2014/main" id="{7ECF14C2-9CC6-F9FB-CF2A-3D64DC633595}"/>
              </a:ext>
            </a:extLst>
          </p:cNvPr>
          <p:cNvSpPr/>
          <p:nvPr/>
        </p:nvSpPr>
        <p:spPr>
          <a:xfrm>
            <a:off x="6787661" y="4663439"/>
            <a:ext cx="1509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>
                <a:solidFill>
                  <a:srgbClr val="4A6572"/>
                </a:solidFill>
                <a:ea typeface="Calibri"/>
                <a:cs typeface="Calibri"/>
              </a:rPr>
              <a:t>Code Sample</a:t>
            </a:r>
            <a:endParaRPr lang="en-US" sz="1100" i="1" dirty="0">
              <a:solidFill>
                <a:srgbClr val="4A657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Introduction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macroinvertebrates are key environmental health indicators. Manual classification from images is slow and error-prone.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2491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Python application that indexes a dataset, performs EDA, trains a Random Forest classifier, and deploys via both a console menu and Tkinter GUI.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931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6868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Indexed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7492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Stream Macroinvertebrates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103120"/>
            <a:ext cx="3931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10312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74920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Classification → Deployment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393192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33756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074920" y="4050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 + Tkinter GUI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Macroinvertebrate Image Analysis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System Design Overview</a:t>
            </a:r>
            <a:endParaRPr lang="en-US" sz="18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0662E3-B75F-B3BF-F2A5-B5C85A03E0AC}"/>
              </a:ext>
            </a:extLst>
          </p:cNvPr>
          <p:cNvGrpSpPr/>
          <p:nvPr/>
        </p:nvGrpSpPr>
        <p:grpSpPr>
          <a:xfrm>
            <a:off x="274320" y="910883"/>
            <a:ext cx="8595360" cy="822960"/>
            <a:chOff x="274320" y="822960"/>
            <a:chExt cx="8595360" cy="822960"/>
          </a:xfrm>
        </p:grpSpPr>
        <p:sp>
          <p:nvSpPr>
            <p:cNvPr id="4" name="Shape 2"/>
            <p:cNvSpPr/>
            <p:nvPr/>
          </p:nvSpPr>
          <p:spPr>
            <a:xfrm>
              <a:off x="274320" y="822960"/>
              <a:ext cx="8595360" cy="822960"/>
            </a:xfrm>
            <a:prstGeom prst="rect">
              <a:avLst/>
            </a:prstGeom>
            <a:solidFill>
              <a:srgbClr val="1B3A4B">
                <a:alpha val="80000"/>
              </a:srgbClr>
            </a:solidFill>
            <a:ln w="15240">
              <a:solidFill>
                <a:srgbClr val="52B788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274320" y="822960"/>
              <a:ext cx="1920240" cy="822960"/>
            </a:xfrm>
            <a:prstGeom prst="rect">
              <a:avLst/>
            </a:prstGeom>
            <a:solidFill>
              <a:srgbClr val="52B788"/>
            </a:solidFill>
            <a:ln w="12700">
              <a:solidFill>
                <a:srgbClr val="52B78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20040" y="82296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 Layer</a:t>
              </a:r>
              <a:endParaRPr lang="en-US" sz="11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377440" y="96012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52B788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377440" y="96012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ConsoleApp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931920" y="96012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52B788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931920" y="96012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MacroApp (GUI)</a:t>
              </a:r>
              <a:endParaRPr lang="en-US" sz="10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46A36D-1AF9-2B07-3985-C7B388B04FCA}"/>
              </a:ext>
            </a:extLst>
          </p:cNvPr>
          <p:cNvGrpSpPr/>
          <p:nvPr/>
        </p:nvGrpSpPr>
        <p:grpSpPr>
          <a:xfrm>
            <a:off x="274320" y="1902655"/>
            <a:ext cx="8595360" cy="822960"/>
            <a:chOff x="274320" y="1920240"/>
            <a:chExt cx="8595360" cy="822960"/>
          </a:xfrm>
        </p:grpSpPr>
        <p:sp>
          <p:nvSpPr>
            <p:cNvPr id="11" name="Shape 9"/>
            <p:cNvSpPr/>
            <p:nvPr/>
          </p:nvSpPr>
          <p:spPr>
            <a:xfrm>
              <a:off x="274320" y="1920240"/>
              <a:ext cx="8595360" cy="822960"/>
            </a:xfrm>
            <a:prstGeom prst="rect">
              <a:avLst/>
            </a:prstGeom>
            <a:solidFill>
              <a:srgbClr val="1B3A4B">
                <a:alpha val="50000"/>
              </a:srgbClr>
            </a:solidFill>
            <a:ln w="15240">
              <a:solidFill>
                <a:srgbClr val="00B4D8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274320" y="1920240"/>
              <a:ext cx="1920240" cy="8229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20040" y="192024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Coordination Layer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377440" y="20574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377440" y="20574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WorkflowService</a:t>
              </a:r>
              <a:endParaRPr lang="en-US" sz="10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F674F7-7754-F359-E9E9-088A54527F7B}"/>
              </a:ext>
            </a:extLst>
          </p:cNvPr>
          <p:cNvGrpSpPr/>
          <p:nvPr/>
        </p:nvGrpSpPr>
        <p:grpSpPr>
          <a:xfrm>
            <a:off x="274320" y="2896186"/>
            <a:ext cx="8595360" cy="822960"/>
            <a:chOff x="274320" y="2834640"/>
            <a:chExt cx="8595360" cy="822960"/>
          </a:xfrm>
        </p:grpSpPr>
        <p:sp>
          <p:nvSpPr>
            <p:cNvPr id="16" name="Shape 14"/>
            <p:cNvSpPr/>
            <p:nvPr/>
          </p:nvSpPr>
          <p:spPr>
            <a:xfrm>
              <a:off x="274320" y="2834640"/>
              <a:ext cx="8595360" cy="822960"/>
            </a:xfrm>
            <a:prstGeom prst="rect">
              <a:avLst/>
            </a:prstGeom>
            <a:solidFill>
              <a:srgbClr val="1B3A4B">
                <a:alpha val="80000"/>
              </a:srgbClr>
            </a:solidFill>
            <a:ln w="15240">
              <a:solidFill>
                <a:srgbClr val="0096C7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274320" y="2834640"/>
              <a:ext cx="1920240" cy="822960"/>
            </a:xfrm>
            <a:prstGeom prst="rect">
              <a:avLst/>
            </a:prstGeom>
            <a:solidFill>
              <a:srgbClr val="0096C7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20040" y="283464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Service Layer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377440" y="2971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2377440" y="2971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DatasetIndexer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931920" y="2971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931920" y="2971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EDAService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486400" y="2971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486400" y="2971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ImagePreprocessor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2971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040880" y="2971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ClassifierService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B03269-3DD3-F2AF-3A9C-48B6D1E61281}"/>
              </a:ext>
            </a:extLst>
          </p:cNvPr>
          <p:cNvGrpSpPr/>
          <p:nvPr/>
        </p:nvGrpSpPr>
        <p:grpSpPr>
          <a:xfrm>
            <a:off x="274320" y="3889717"/>
            <a:ext cx="8595360" cy="822960"/>
            <a:chOff x="274320" y="3977640"/>
            <a:chExt cx="8595360" cy="822960"/>
          </a:xfrm>
        </p:grpSpPr>
        <p:sp>
          <p:nvSpPr>
            <p:cNvPr id="27" name="Shape 25"/>
            <p:cNvSpPr/>
            <p:nvPr/>
          </p:nvSpPr>
          <p:spPr>
            <a:xfrm>
              <a:off x="274320" y="3977640"/>
              <a:ext cx="8595360" cy="822960"/>
            </a:xfrm>
            <a:prstGeom prst="rect">
              <a:avLst/>
            </a:prstGeom>
            <a:solidFill>
              <a:srgbClr val="1B3A4B">
                <a:alpha val="50000"/>
              </a:srgbClr>
            </a:solidFill>
            <a:ln w="15240">
              <a:solidFill>
                <a:srgbClr val="E9C46A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274320" y="3977640"/>
              <a:ext cx="1920240" cy="822960"/>
            </a:xfrm>
            <a:prstGeom prst="rect">
              <a:avLst/>
            </a:prstGeom>
            <a:solidFill>
              <a:srgbClr val="E9C46A"/>
            </a:solidFill>
            <a:ln w="12700">
              <a:solidFill>
                <a:srgbClr val="E9C46A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20040" y="397764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Config / Models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377440" y="4114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E9C46A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377440" y="4114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config.py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931920" y="4114800"/>
              <a:ext cx="1417320" cy="54864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12700">
              <a:solidFill>
                <a:srgbClr val="E9C46A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931920" y="4114800"/>
              <a:ext cx="1417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ImageRecord</a:t>
              </a:r>
              <a:endParaRPr lang="en-US" sz="10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Both interfaces call </a:t>
            </a:r>
            <a:r>
              <a:rPr lang="en-US" sz="1000" i="1" dirty="0" err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WorkflowService</a:t>
            </a:r>
            <a:r>
              <a:rPr lang="en-US" sz="1000" i="1" dirty="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. Services are injected at construction, no import leakage between layers.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Python Packages &amp; How We Used Them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91440" cy="8686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68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index as a structured DataFrame. EDA and training share the same table.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47088"/>
            <a:ext cx="91440" cy="86868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892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and label arrays for the classifier.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71216"/>
            <a:ext cx="91440" cy="86868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9169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3218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images from disk, convert to grayscale, resize to 128×128.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95344"/>
            <a:ext cx="91440" cy="86868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9410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42428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split, RandomForestClassifier, accuracy &amp; confusion matrix.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822960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22960"/>
            <a:ext cx="91440" cy="868680"/>
          </a:xfrm>
          <a:prstGeom prst="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868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/ seaborn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117043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EDA charts: distribution, histograms, scatter, confusion matrix heatmap.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847088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47088"/>
            <a:ext cx="91440" cy="868680"/>
          </a:xfrm>
          <a:prstGeom prst="rect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892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desktop GUI - buttons, image preview, threaded tasks, progress bar.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71216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71216"/>
            <a:ext cx="91440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9169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2186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and reload the trained model between sessions.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895344"/>
            <a:ext cx="42062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95344"/>
            <a:ext cx="91440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9410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42428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thumbnail images for display inside the Tkinter GUI.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Macroinvertebrate Image Analysis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Live Demonstration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3533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console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185623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Show dataset summary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" y="235915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Stage 1 EDA - view saved charts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78892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86207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 classifier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" y="336499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accuracy + confusion matrix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386791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 a single image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429768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4370832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Exit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Demo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09160" y="128016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2312" y="135331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Tkinter GUI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178308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18562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Dataset Summary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228600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235915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EDA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09160" y="278892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82312" y="286207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6636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Train Classifier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329184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82312" y="33649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66360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Click Choose Image → preview loads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709160" y="3794760"/>
            <a:ext cx="4114800" cy="411480"/>
          </a:xfrm>
          <a:prstGeom prst="rect">
            <a:avLst/>
          </a:prstGeom>
          <a:solidFill>
            <a:srgbClr val="1B3A4B">
              <a:alpha val="6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82312" y="386791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82312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6636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Click Predict Class - result shown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709160" y="4297680"/>
            <a:ext cx="4114800" cy="411480"/>
          </a:xfrm>
          <a:prstGeom prst="rect">
            <a:avLst/>
          </a:prstGeom>
          <a:solidFill>
            <a:srgbClr val="1B3A4B">
              <a:alpha val="90000"/>
            </a:srgbClr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82312" y="437083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6636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Show progress bar and logs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Object-Oriented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job. EDAService only makes charts. ClassifierService only handles the model. Neither touches file paths outside its scope.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416052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88036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82696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WorkflowService receives an ImagePreprocessor and passes it to ClassifierService at construction time. Easy to test - swap a mock preprocessor without changing any other class.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6052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416052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25296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sklearn import is only inside ClassifierService. No other module ever touches scikit-learn directly. If we swap to Keras, only one file changes.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6052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6052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80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(ImageRecord)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82696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typed, self-documenting dataclass replaces a raw dict for image metadata. Provides __repr__ and type safety with no boilerplate.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Macroinvertebrate Image Analysis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Team Contribution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840480"/>
          </a:xfrm>
          <a:prstGeom prst="rect">
            <a:avLst/>
          </a:prstGeom>
          <a:solidFill>
            <a:srgbClr val="1B3A4B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0515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0817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08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DatasetIndexer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ImageRecord dataclass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EDAService (5 charts)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config.py - central paths</a:t>
            </a:r>
            <a:endParaRPr lang="en-US" sz="1050">
              <a:latin typeface="Consola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82112" y="777240"/>
            <a:ext cx="2743200" cy="3840480"/>
          </a:xfrm>
          <a:prstGeom prst="rect">
            <a:avLst/>
          </a:prstGeom>
          <a:solidFill>
            <a:srgbClr val="1B3A4B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77724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777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55264" y="10515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140817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408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ImagePreprocessor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9272" y="206654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0665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ClassifierService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9272" y="272491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724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WorkflowService coordinator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33832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persistence (joblib)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777240"/>
            <a:ext cx="2743200" cy="3840480"/>
          </a:xfrm>
          <a:prstGeom prst="rect">
            <a:avLst/>
          </a:prstGeom>
          <a:solidFill>
            <a:srgbClr val="1B3A4B"/>
          </a:solidFill>
          <a:ln w="1905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777240"/>
            <a:ext cx="274320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777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63056" y="10515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QA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27064" y="1408176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E9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1408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ConsoleApp (6 menu options)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27064" y="2066544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20665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MacroApp Tkinter GUI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27064" y="272491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E9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2724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MANUAL_TESTING.md (10 tests)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27064" y="33832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7620">
            <a:solidFill>
              <a:srgbClr val="E9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&amp;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3-stage pipeline in 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73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EDA charts with meaningful insight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03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(balanced class weights)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Tkinter GUI deployment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manual test scenarios - all passed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57800" y="457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868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Grayscale features only - loses colour info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57800" y="130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cross-validation or hyperparameter tuning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7800" y="1746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Manual testing only - no automated tests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2331720"/>
            <a:ext cx="329184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CNN-based deep learning classifier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57800" y="3273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Colour feature extraction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37124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Automated test suite (pytest)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57800" y="41513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Web-based deployment (Flask/Streamlit)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 welcome.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Macroinvertebrate Image Analysis System</dc:title>
  <dc:subject>PptxGenJS Presentation</dc:subject>
  <dc:creator>PptxGenJS</dc:creator>
  <cp:lastModifiedBy>PptxGenJS</cp:lastModifiedBy>
  <cp:revision>170</cp:revision>
  <dcterms:created xsi:type="dcterms:W3CDTF">2026-04-29T07:35:36Z</dcterms:created>
  <dcterms:modified xsi:type="dcterms:W3CDTF">2026-05-13T03:49:11Z</dcterms:modified>
</cp:coreProperties>
</file>